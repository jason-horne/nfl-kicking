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61" r:id="rId2"/>
  </p:sldIdLst>
  <p:sldSz cx="43891200" cy="32918400"/>
  <p:notesSz cx="6938963" cy="9236075"/>
  <p:defaultTextStyle>
    <a:defPPr>
      <a:defRPr lang="en-US"/>
    </a:defPPr>
    <a:lvl1pPr algn="l" defTabSz="2193925" rtl="0" fontAlgn="base">
      <a:spcBef>
        <a:spcPct val="0"/>
      </a:spcBef>
      <a:spcAft>
        <a:spcPct val="0"/>
      </a:spcAft>
      <a:defRPr sz="8600" kern="1200">
        <a:solidFill>
          <a:schemeClr val="tx1"/>
        </a:solidFill>
        <a:latin typeface="Arial" charset="0"/>
        <a:ea typeface="ＭＳ Ｐゴシック" charset="0"/>
        <a:cs typeface="ＭＳ Ｐゴシック" charset="0"/>
      </a:defRPr>
    </a:lvl1pPr>
    <a:lvl2pPr marL="2193925" indent="-1736725" algn="l" defTabSz="2193925" rtl="0" fontAlgn="base">
      <a:spcBef>
        <a:spcPct val="0"/>
      </a:spcBef>
      <a:spcAft>
        <a:spcPct val="0"/>
      </a:spcAft>
      <a:defRPr sz="8600" kern="1200">
        <a:solidFill>
          <a:schemeClr val="tx1"/>
        </a:solidFill>
        <a:latin typeface="Arial" charset="0"/>
        <a:ea typeface="ＭＳ Ｐゴシック" charset="0"/>
        <a:cs typeface="ＭＳ Ｐゴシック" charset="0"/>
      </a:defRPr>
    </a:lvl2pPr>
    <a:lvl3pPr marL="4387850" indent="-3473450" algn="l" defTabSz="2193925" rtl="0" fontAlgn="base">
      <a:spcBef>
        <a:spcPct val="0"/>
      </a:spcBef>
      <a:spcAft>
        <a:spcPct val="0"/>
      </a:spcAft>
      <a:defRPr sz="8600" kern="1200">
        <a:solidFill>
          <a:schemeClr val="tx1"/>
        </a:solidFill>
        <a:latin typeface="Arial" charset="0"/>
        <a:ea typeface="ＭＳ Ｐゴシック" charset="0"/>
        <a:cs typeface="ＭＳ Ｐゴシック" charset="0"/>
      </a:defRPr>
    </a:lvl3pPr>
    <a:lvl4pPr marL="6583363" indent="-5211763" algn="l" defTabSz="2193925" rtl="0" fontAlgn="base">
      <a:spcBef>
        <a:spcPct val="0"/>
      </a:spcBef>
      <a:spcAft>
        <a:spcPct val="0"/>
      </a:spcAft>
      <a:defRPr sz="8600" kern="1200">
        <a:solidFill>
          <a:schemeClr val="tx1"/>
        </a:solidFill>
        <a:latin typeface="Arial" charset="0"/>
        <a:ea typeface="ＭＳ Ｐゴシック" charset="0"/>
        <a:cs typeface="ＭＳ Ｐゴシック" charset="0"/>
      </a:defRPr>
    </a:lvl4pPr>
    <a:lvl5pPr marL="8777288" indent="-6948488" algn="l" defTabSz="2193925" rtl="0" fontAlgn="base">
      <a:spcBef>
        <a:spcPct val="0"/>
      </a:spcBef>
      <a:spcAft>
        <a:spcPct val="0"/>
      </a:spcAft>
      <a:defRPr sz="8600" kern="1200">
        <a:solidFill>
          <a:schemeClr val="tx1"/>
        </a:solidFill>
        <a:latin typeface="Arial" charset="0"/>
        <a:ea typeface="ＭＳ Ｐゴシック" charset="0"/>
        <a:cs typeface="ＭＳ Ｐゴシック" charset="0"/>
      </a:defRPr>
    </a:lvl5pPr>
    <a:lvl6pPr marL="2286000" algn="l" defTabSz="457200" rtl="0" eaLnBrk="1" latinLnBrk="0" hangingPunct="1">
      <a:defRPr sz="8600" kern="1200">
        <a:solidFill>
          <a:schemeClr val="tx1"/>
        </a:solidFill>
        <a:latin typeface="Arial" charset="0"/>
        <a:ea typeface="ＭＳ Ｐゴシック" charset="0"/>
        <a:cs typeface="ＭＳ Ｐゴシック" charset="0"/>
      </a:defRPr>
    </a:lvl6pPr>
    <a:lvl7pPr marL="2743200" algn="l" defTabSz="457200" rtl="0" eaLnBrk="1" latinLnBrk="0" hangingPunct="1">
      <a:defRPr sz="8600" kern="1200">
        <a:solidFill>
          <a:schemeClr val="tx1"/>
        </a:solidFill>
        <a:latin typeface="Arial" charset="0"/>
        <a:ea typeface="ＭＳ Ｐゴシック" charset="0"/>
        <a:cs typeface="ＭＳ Ｐゴシック" charset="0"/>
      </a:defRPr>
    </a:lvl7pPr>
    <a:lvl8pPr marL="3200400" algn="l" defTabSz="457200" rtl="0" eaLnBrk="1" latinLnBrk="0" hangingPunct="1">
      <a:defRPr sz="8600" kern="1200">
        <a:solidFill>
          <a:schemeClr val="tx1"/>
        </a:solidFill>
        <a:latin typeface="Arial" charset="0"/>
        <a:ea typeface="ＭＳ Ｐゴシック" charset="0"/>
        <a:cs typeface="ＭＳ Ｐゴシック" charset="0"/>
      </a:defRPr>
    </a:lvl8pPr>
    <a:lvl9pPr marL="3657600" algn="l" defTabSz="457200" rtl="0" eaLnBrk="1" latinLnBrk="0" hangingPunct="1">
      <a:defRPr sz="86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E54"/>
    <a:srgbClr val="131F33"/>
    <a:srgbClr val="F76900"/>
    <a:srgbClr val="052754"/>
    <a:srgbClr val="D74520"/>
    <a:srgbClr val="5771A1"/>
    <a:srgbClr val="DE622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43" autoAdjust="0"/>
    <p:restoredTop sz="94980" autoAdjust="0"/>
  </p:normalViewPr>
  <p:slideViewPr>
    <p:cSldViewPr snapToObjects="1">
      <p:cViewPr varScale="1">
        <p:scale>
          <a:sx n="17" d="100"/>
          <a:sy n="17" d="100"/>
        </p:scale>
        <p:origin x="1406" y="113"/>
      </p:cViewPr>
      <p:guideLst>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6884" cy="461804"/>
          </a:xfrm>
          <a:prstGeom prst="rect">
            <a:avLst/>
          </a:prstGeom>
        </p:spPr>
        <p:txBody>
          <a:bodyPr vert="horz" wrap="square" lIns="91440" tIns="45720" rIns="91440" bIns="45720" numCol="1" anchor="t" anchorCtr="0" compatLnSpc="1">
            <a:prstTxWarp prst="textNoShape">
              <a:avLst/>
            </a:prstTxWarp>
          </a:bodyPr>
          <a:lstStyle>
            <a:lvl1pPr>
              <a:defRPr sz="1200" smtClean="0">
                <a:latin typeface="Calibri" charset="0"/>
              </a:defRPr>
            </a:lvl1pPr>
          </a:lstStyle>
          <a:p>
            <a:pPr>
              <a:defRPr/>
            </a:pPr>
            <a:endParaRPr lang="en-US"/>
          </a:p>
        </p:txBody>
      </p:sp>
      <p:sp>
        <p:nvSpPr>
          <p:cNvPr id="3" name="Date Placeholder 2"/>
          <p:cNvSpPr>
            <a:spLocks noGrp="1"/>
          </p:cNvSpPr>
          <p:nvPr>
            <p:ph type="dt" idx="1"/>
          </p:nvPr>
        </p:nvSpPr>
        <p:spPr>
          <a:xfrm>
            <a:off x="3930473" y="0"/>
            <a:ext cx="3006884" cy="461804"/>
          </a:xfrm>
          <a:prstGeom prst="rect">
            <a:avLst/>
          </a:prstGeom>
        </p:spPr>
        <p:txBody>
          <a:bodyPr vert="horz" wrap="square" lIns="91440" tIns="45720" rIns="91440" bIns="45720" numCol="1" anchor="t" anchorCtr="0" compatLnSpc="1">
            <a:prstTxWarp prst="textNoShape">
              <a:avLst/>
            </a:prstTxWarp>
          </a:bodyPr>
          <a:lstStyle>
            <a:lvl1pPr algn="r">
              <a:defRPr sz="1200" smtClean="0">
                <a:latin typeface="Calibri" charset="0"/>
              </a:defRPr>
            </a:lvl1pPr>
          </a:lstStyle>
          <a:p>
            <a:pPr>
              <a:defRPr/>
            </a:pPr>
            <a:fld id="{3E645C15-BC93-A44A-A06A-B4B04C4ED5F7}" type="datetime1">
              <a:rPr lang="en-US"/>
              <a:pPr>
                <a:defRPr/>
              </a:pPr>
              <a:t>4/28/2024</a:t>
            </a:fld>
            <a:endParaRPr lang="en-US"/>
          </a:p>
        </p:txBody>
      </p:sp>
      <p:sp>
        <p:nvSpPr>
          <p:cNvPr id="4" name="Slide Image Placeholder 3"/>
          <p:cNvSpPr>
            <a:spLocks noGrp="1" noRot="1" noChangeAspect="1"/>
          </p:cNvSpPr>
          <p:nvPr>
            <p:ph type="sldImg" idx="2"/>
          </p:nvPr>
        </p:nvSpPr>
        <p:spPr>
          <a:xfrm>
            <a:off x="1160463" y="692150"/>
            <a:ext cx="4618037" cy="3463925"/>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93897" y="4387136"/>
            <a:ext cx="5551170" cy="4156234"/>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2668"/>
            <a:ext cx="3006884" cy="461804"/>
          </a:xfrm>
          <a:prstGeom prst="rect">
            <a:avLst/>
          </a:prstGeom>
        </p:spPr>
        <p:txBody>
          <a:bodyPr vert="horz" wrap="square" lIns="91440" tIns="45720" rIns="91440" bIns="45720" numCol="1" anchor="b" anchorCtr="0" compatLnSpc="1">
            <a:prstTxWarp prst="textNoShape">
              <a:avLst/>
            </a:prstTxWarp>
          </a:bodyPr>
          <a:lstStyle>
            <a:lvl1pPr>
              <a:defRPr sz="1200" smtClean="0">
                <a:latin typeface="Calibri" charset="0"/>
              </a:defRPr>
            </a:lvl1pPr>
          </a:lstStyle>
          <a:p>
            <a:pPr>
              <a:defRPr/>
            </a:pPr>
            <a:endParaRPr lang="en-US"/>
          </a:p>
        </p:txBody>
      </p:sp>
      <p:sp>
        <p:nvSpPr>
          <p:cNvPr id="7" name="Slide Number Placeholder 6"/>
          <p:cNvSpPr>
            <a:spLocks noGrp="1"/>
          </p:cNvSpPr>
          <p:nvPr>
            <p:ph type="sldNum" sz="quarter" idx="5"/>
          </p:nvPr>
        </p:nvSpPr>
        <p:spPr>
          <a:xfrm>
            <a:off x="3930473" y="8772668"/>
            <a:ext cx="3006884" cy="461804"/>
          </a:xfrm>
          <a:prstGeom prst="rect">
            <a:avLst/>
          </a:prstGeom>
        </p:spPr>
        <p:txBody>
          <a:bodyPr vert="horz" wrap="square" lIns="91440" tIns="45720" rIns="91440" bIns="45720" numCol="1" anchor="b" anchorCtr="0" compatLnSpc="1">
            <a:prstTxWarp prst="textNoShape">
              <a:avLst/>
            </a:prstTxWarp>
          </a:bodyPr>
          <a:lstStyle>
            <a:lvl1pPr algn="r">
              <a:defRPr sz="1200" smtClean="0">
                <a:latin typeface="Calibri" charset="0"/>
              </a:defRPr>
            </a:lvl1pPr>
          </a:lstStyle>
          <a:p>
            <a:pPr>
              <a:defRPr/>
            </a:pPr>
            <a:fld id="{E72FF227-20E3-6C4F-8C56-249F9EE6D58F}" type="slidenum">
              <a:rPr lang="en-US"/>
              <a:pPr>
                <a:defRPr/>
              </a:pPr>
              <a:t>‹#›</a:t>
            </a:fld>
            <a:endParaRPr lang="en-US"/>
          </a:p>
        </p:txBody>
      </p:sp>
    </p:spTree>
    <p:extLst>
      <p:ext uri="{BB962C8B-B14F-4D97-AF65-F5344CB8AC3E}">
        <p14:creationId xmlns:p14="http://schemas.microsoft.com/office/powerpoint/2010/main" val="2972623183"/>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ＭＳ Ｐゴシック" pitchFamily="-108"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for a 48” x 36” poster</a:t>
            </a:r>
          </a:p>
        </p:txBody>
      </p:sp>
      <p:sp>
        <p:nvSpPr>
          <p:cNvPr id="4" name="Slide Number Placeholder 3"/>
          <p:cNvSpPr>
            <a:spLocks noGrp="1"/>
          </p:cNvSpPr>
          <p:nvPr>
            <p:ph type="sldNum" sz="quarter" idx="5"/>
          </p:nvPr>
        </p:nvSpPr>
        <p:spPr/>
        <p:txBody>
          <a:bodyPr/>
          <a:lstStyle/>
          <a:p>
            <a:pPr>
              <a:defRPr/>
            </a:pPr>
            <a:fld id="{E72FF227-20E3-6C4F-8C56-249F9EE6D58F}" type="slidenum">
              <a:rPr lang="en-US" smtClean="0"/>
              <a:pPr>
                <a:defRPr/>
              </a:pPr>
              <a:t>1</a:t>
            </a:fld>
            <a:endParaRPr lang="en-US"/>
          </a:p>
        </p:txBody>
      </p:sp>
    </p:spTree>
    <p:extLst>
      <p:ext uri="{BB962C8B-B14F-4D97-AF65-F5344CB8AC3E}">
        <p14:creationId xmlns:p14="http://schemas.microsoft.com/office/powerpoint/2010/main" val="3894441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Background Poster">
    <p:spTree>
      <p:nvGrpSpPr>
        <p:cNvPr id="1" name=""/>
        <p:cNvGrpSpPr/>
        <p:nvPr/>
      </p:nvGrpSpPr>
      <p:grpSpPr>
        <a:xfrm>
          <a:off x="0" y="0"/>
          <a:ext cx="0" cy="0"/>
          <a:chOff x="0" y="0"/>
          <a:chExt cx="0" cy="0"/>
        </a:xfrm>
      </p:grpSpPr>
      <p:sp>
        <p:nvSpPr>
          <p:cNvPr id="2" name="Rectangle 1"/>
          <p:cNvSpPr/>
          <p:nvPr userDrawn="1"/>
        </p:nvSpPr>
        <p:spPr>
          <a:xfrm>
            <a:off x="0" y="3886200"/>
            <a:ext cx="43891200" cy="290322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3" name="Straight Connector 2"/>
          <p:cNvCxnSpPr/>
          <p:nvPr userDrawn="1"/>
        </p:nvCxnSpPr>
        <p:spPr>
          <a:xfrm>
            <a:off x="0" y="4038600"/>
            <a:ext cx="43891200" cy="0"/>
          </a:xfrm>
          <a:prstGeom prst="line">
            <a:avLst/>
          </a:prstGeom>
          <a:ln w="381000" cmpd="sng">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74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ange Background Poster">
    <p:spTree>
      <p:nvGrpSpPr>
        <p:cNvPr id="1" name=""/>
        <p:cNvGrpSpPr/>
        <p:nvPr/>
      </p:nvGrpSpPr>
      <p:grpSpPr>
        <a:xfrm>
          <a:off x="0" y="0"/>
          <a:ext cx="0" cy="0"/>
          <a:chOff x="0" y="0"/>
          <a:chExt cx="0" cy="0"/>
        </a:xfrm>
      </p:grpSpPr>
      <p:sp>
        <p:nvSpPr>
          <p:cNvPr id="2" name="Rectangle 1"/>
          <p:cNvSpPr/>
          <p:nvPr userDrawn="1"/>
        </p:nvSpPr>
        <p:spPr>
          <a:xfrm>
            <a:off x="0" y="3886200"/>
            <a:ext cx="43891200" cy="290322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3" name="Straight Connector 2"/>
          <p:cNvCxnSpPr/>
          <p:nvPr userDrawn="1"/>
        </p:nvCxnSpPr>
        <p:spPr>
          <a:xfrm>
            <a:off x="0" y="4038600"/>
            <a:ext cx="43891200" cy="0"/>
          </a:xfrm>
          <a:prstGeom prst="line">
            <a:avLst/>
          </a:prstGeom>
          <a:ln w="381000" cmpd="sng">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481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a:prstGeom prst="rect">
            <a:avLst/>
          </a:prstGeo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a:prstGeom prst="rect">
            <a:avLst/>
          </a:prstGeo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DE4A1045-DEEA-8946-B37B-F877AEF129FC}" type="datetime1">
              <a:rPr lang="en-US"/>
              <a:pPr>
                <a:defRPr/>
              </a:pPr>
              <a:t>4/28/2024</a:t>
            </a:fld>
            <a:endParaRPr lang="en-US"/>
          </a:p>
        </p:txBody>
      </p:sp>
      <p:sp>
        <p:nvSpPr>
          <p:cNvPr id="5"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579A86B2-360D-E24E-B447-F98F32436CC1}" type="slidenum">
              <a:rPr lang="en-US"/>
              <a:pPr>
                <a:defRPr/>
              </a:pPr>
              <a:t>‹#›</a:t>
            </a:fld>
            <a:endParaRPr lang="en-US"/>
          </a:p>
        </p:txBody>
      </p:sp>
    </p:spTree>
    <p:extLst>
      <p:ext uri="{BB962C8B-B14F-4D97-AF65-F5344CB8AC3E}">
        <p14:creationId xmlns:p14="http://schemas.microsoft.com/office/powerpoint/2010/main" val="136236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85F8FCF0-B109-4E41-830D-87865EE91AB8}" type="datetime1">
              <a:rPr lang="en-US"/>
              <a:pPr>
                <a:defRPr/>
              </a:pPr>
              <a:t>4/28/2024</a:t>
            </a:fld>
            <a:endParaRPr lang="en-US"/>
          </a:p>
        </p:txBody>
      </p:sp>
      <p:sp>
        <p:nvSpPr>
          <p:cNvPr id="6"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32BA0FE9-D76A-B441-9EDF-101CA9A46B59}" type="slidenum">
              <a:rPr lang="en-US"/>
              <a:pPr>
                <a:defRPr/>
              </a:pPr>
              <a:t>‹#›</a:t>
            </a:fld>
            <a:endParaRPr lang="en-US"/>
          </a:p>
        </p:txBody>
      </p:sp>
    </p:spTree>
    <p:extLst>
      <p:ext uri="{BB962C8B-B14F-4D97-AF65-F5344CB8AC3E}">
        <p14:creationId xmlns:p14="http://schemas.microsoft.com/office/powerpoint/2010/main" val="262221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E7C552A1-6EB6-214B-B59F-414060EFC9BA}" type="datetime1">
              <a:rPr lang="en-US"/>
              <a:pPr>
                <a:defRPr/>
              </a:pPr>
              <a:t>4/28/2024</a:t>
            </a:fld>
            <a:endParaRPr lang="en-US"/>
          </a:p>
        </p:txBody>
      </p:sp>
      <p:sp>
        <p:nvSpPr>
          <p:cNvPr id="8"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9"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B58AD041-EDB0-4D41-9E5B-79FB902190D4}" type="slidenum">
              <a:rPr lang="en-US"/>
              <a:pPr>
                <a:defRPr/>
              </a:pPr>
              <a:t>‹#›</a:t>
            </a:fld>
            <a:endParaRPr lang="en-US"/>
          </a:p>
        </p:txBody>
      </p:sp>
    </p:spTree>
    <p:extLst>
      <p:ext uri="{BB962C8B-B14F-4D97-AF65-F5344CB8AC3E}">
        <p14:creationId xmlns:p14="http://schemas.microsoft.com/office/powerpoint/2010/main" val="2490593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4122401C-AAEC-224B-B0FC-7E890D4BAFD9}" type="datetime1">
              <a:rPr lang="en-US"/>
              <a:pPr>
                <a:defRPr/>
              </a:pPr>
              <a:t>4/28/2024</a:t>
            </a:fld>
            <a:endParaRPr lang="en-US"/>
          </a:p>
        </p:txBody>
      </p:sp>
      <p:sp>
        <p:nvSpPr>
          <p:cNvPr id="4"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5"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26EED259-E526-8742-8A7F-7FDFE05072F7}" type="slidenum">
              <a:rPr lang="en-US"/>
              <a:pPr>
                <a:defRPr/>
              </a:pPr>
              <a:t>‹#›</a:t>
            </a:fld>
            <a:endParaRPr lang="en-US"/>
          </a:p>
        </p:txBody>
      </p:sp>
    </p:spTree>
    <p:extLst>
      <p:ext uri="{BB962C8B-B14F-4D97-AF65-F5344CB8AC3E}">
        <p14:creationId xmlns:p14="http://schemas.microsoft.com/office/powerpoint/2010/main" val="1510159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556E7D08-D5EF-6242-865A-CE48CC4D2D04}" type="datetime1">
              <a:rPr lang="en-US"/>
              <a:pPr>
                <a:defRPr/>
              </a:pPr>
              <a:t>4/28/2024</a:t>
            </a:fld>
            <a:endParaRPr lang="en-US"/>
          </a:p>
        </p:txBody>
      </p:sp>
      <p:sp>
        <p:nvSpPr>
          <p:cNvPr id="3"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4"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F793F65F-BDD2-7143-9DB4-7F6E1DC01511}" type="slidenum">
              <a:rPr lang="en-US"/>
              <a:pPr>
                <a:defRPr/>
              </a:pPr>
              <a:t>‹#›</a:t>
            </a:fld>
            <a:endParaRPr lang="en-US"/>
          </a:p>
        </p:txBody>
      </p:sp>
    </p:spTree>
    <p:extLst>
      <p:ext uri="{BB962C8B-B14F-4D97-AF65-F5344CB8AC3E}">
        <p14:creationId xmlns:p14="http://schemas.microsoft.com/office/powerpoint/2010/main" val="2701705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a:prstGeom prst="rect">
            <a:avLst/>
          </a:prstGeo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a:prstGeom prst="rect">
            <a:avLst/>
          </a:prstGeo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0B1F0F8D-0D4A-614C-B06A-DCF9395ADB14}" type="datetime1">
              <a:rPr lang="en-US"/>
              <a:pPr>
                <a:defRPr/>
              </a:pPr>
              <a:t>4/28/2024</a:t>
            </a:fld>
            <a:endParaRPr lang="en-US"/>
          </a:p>
        </p:txBody>
      </p:sp>
      <p:sp>
        <p:nvSpPr>
          <p:cNvPr id="6"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9EF3A24D-1705-F04C-93FD-1C69EE75A36A}" type="slidenum">
              <a:rPr lang="en-US"/>
              <a:pPr>
                <a:defRPr/>
              </a:pPr>
              <a:t>‹#›</a:t>
            </a:fld>
            <a:endParaRPr lang="en-US"/>
          </a:p>
        </p:txBody>
      </p:sp>
    </p:spTree>
    <p:extLst>
      <p:ext uri="{BB962C8B-B14F-4D97-AF65-F5344CB8AC3E}">
        <p14:creationId xmlns:p14="http://schemas.microsoft.com/office/powerpoint/2010/main" val="4294342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a:prstGeom prst="rect">
            <a:avLst/>
          </a:prstGeo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a:prstGeom prst="rect">
            <a:avLst/>
          </a:prstGeom>
        </p:spPr>
        <p:txBody>
          <a:bodyPr rtlCol="0">
            <a:normAutofit/>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lvl="0"/>
            <a:r>
              <a:rPr lang="en-US" noProof="0"/>
              <a:t>Click icon to add picture</a:t>
            </a:r>
          </a:p>
        </p:txBody>
      </p:sp>
      <p:sp>
        <p:nvSpPr>
          <p:cNvPr id="4" name="Text Placeholder 3"/>
          <p:cNvSpPr>
            <a:spLocks noGrp="1"/>
          </p:cNvSpPr>
          <p:nvPr>
            <p:ph type="body" sz="half" idx="2"/>
          </p:nvPr>
        </p:nvSpPr>
        <p:spPr>
          <a:xfrm>
            <a:off x="8602982" y="25763222"/>
            <a:ext cx="26334720" cy="3863338"/>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FE30288A-D7A5-0941-93D1-D21B196E9A39}" type="datetime1">
              <a:rPr lang="en-US"/>
              <a:pPr>
                <a:defRPr/>
              </a:pPr>
              <a:t>4/28/2024</a:t>
            </a:fld>
            <a:endParaRPr lang="en-US"/>
          </a:p>
        </p:txBody>
      </p:sp>
      <p:sp>
        <p:nvSpPr>
          <p:cNvPr id="6"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FC608315-0CFA-A846-8E58-42DE526B4491}" type="slidenum">
              <a:rPr lang="en-US"/>
              <a:pPr>
                <a:defRPr/>
              </a:pPr>
              <a:t>‹#›</a:t>
            </a:fld>
            <a:endParaRPr lang="en-US"/>
          </a:p>
        </p:txBody>
      </p:sp>
    </p:spTree>
    <p:extLst>
      <p:ext uri="{BB962C8B-B14F-4D97-AF65-F5344CB8AC3E}">
        <p14:creationId xmlns:p14="http://schemas.microsoft.com/office/powerpoint/2010/main" val="241567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193925" y="7680325"/>
            <a:ext cx="39503350" cy="217249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90E7CA6F-884E-634E-A75A-572F483F8848}" type="datetime1">
              <a:rPr lang="en-US"/>
              <a:pPr>
                <a:defRPr/>
              </a:pPr>
              <a:t>4/28/2024</a:t>
            </a:fld>
            <a:endParaRPr lang="en-US"/>
          </a:p>
        </p:txBody>
      </p:sp>
      <p:sp>
        <p:nvSpPr>
          <p:cNvPr id="5"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8C23B04B-B7F2-FF4D-8077-EF3B1F9C6BAE}" type="slidenum">
              <a:rPr lang="en-US"/>
              <a:pPr>
                <a:defRPr/>
              </a:pPr>
              <a:t>‹#›</a:t>
            </a:fld>
            <a:endParaRPr lang="en-US"/>
          </a:p>
        </p:txBody>
      </p:sp>
    </p:spTree>
    <p:extLst>
      <p:ext uri="{BB962C8B-B14F-4D97-AF65-F5344CB8AC3E}">
        <p14:creationId xmlns:p14="http://schemas.microsoft.com/office/powerpoint/2010/main" val="4088113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3925" y="30510163"/>
            <a:ext cx="10242550" cy="1752600"/>
          </a:xfrm>
          <a:prstGeom prst="rect">
            <a:avLst/>
          </a:prstGeom>
        </p:spPr>
        <p:txBody>
          <a:bodyPr/>
          <a:lstStyle>
            <a:lvl1pPr>
              <a:defRPr smtClean="0"/>
            </a:lvl1pPr>
          </a:lstStyle>
          <a:p>
            <a:pPr>
              <a:defRPr/>
            </a:pPr>
            <a:fld id="{1B9D8FB5-0612-A746-80CF-DDCC9E0BE654}" type="datetime1">
              <a:rPr lang="en-US"/>
              <a:pPr>
                <a:defRPr/>
              </a:pPr>
              <a:t>4/28/2024</a:t>
            </a:fld>
            <a:endParaRPr lang="en-US"/>
          </a:p>
        </p:txBody>
      </p:sp>
      <p:sp>
        <p:nvSpPr>
          <p:cNvPr id="5" name="Footer Placeholder 4"/>
          <p:cNvSpPr>
            <a:spLocks noGrp="1"/>
          </p:cNvSpPr>
          <p:nvPr>
            <p:ph type="ftr" sz="quarter" idx="11"/>
          </p:nvPr>
        </p:nvSpPr>
        <p:spPr>
          <a:xfrm>
            <a:off x="14995525" y="30510163"/>
            <a:ext cx="13900150" cy="1752600"/>
          </a:xfrm>
          <a:prstGeom prst="rect">
            <a:avLst/>
          </a:prstGeo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31454725" y="30510163"/>
            <a:ext cx="10242550" cy="1752600"/>
          </a:xfrm>
          <a:prstGeom prst="rect">
            <a:avLst/>
          </a:prstGeom>
        </p:spPr>
        <p:txBody>
          <a:bodyPr/>
          <a:lstStyle>
            <a:lvl1pPr>
              <a:defRPr smtClean="0"/>
            </a:lvl1pPr>
          </a:lstStyle>
          <a:p>
            <a:pPr>
              <a:defRPr/>
            </a:pPr>
            <a:fld id="{97C0733A-467B-FA4F-A4AA-CB0DB15665B4}" type="slidenum">
              <a:rPr lang="en-US"/>
              <a:pPr>
                <a:defRPr/>
              </a:pPr>
              <a:t>‹#›</a:t>
            </a:fld>
            <a:endParaRPr lang="en-US"/>
          </a:p>
        </p:txBody>
      </p:sp>
    </p:spTree>
    <p:extLst>
      <p:ext uri="{BB962C8B-B14F-4D97-AF65-F5344CB8AC3E}">
        <p14:creationId xmlns:p14="http://schemas.microsoft.com/office/powerpoint/2010/main" val="2257549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ctr" defTabSz="2193925" rtl="0" eaLnBrk="1" fontAlgn="base" hangingPunct="1">
        <a:spcBef>
          <a:spcPct val="0"/>
        </a:spcBef>
        <a:spcAft>
          <a:spcPct val="0"/>
        </a:spcAft>
        <a:defRPr sz="21100" kern="1200">
          <a:solidFill>
            <a:schemeClr val="tx1"/>
          </a:solidFill>
          <a:latin typeface="+mj-lt"/>
          <a:ea typeface="ＭＳ Ｐゴシック" pitchFamily="-108" charset="-128"/>
          <a:cs typeface="ＭＳ Ｐゴシック" pitchFamily="-108" charset="-128"/>
        </a:defRPr>
      </a:lvl1pPr>
      <a:lvl2pPr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2pPr>
      <a:lvl3pPr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3pPr>
      <a:lvl4pPr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4pPr>
      <a:lvl5pPr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5pPr>
      <a:lvl6pPr marL="457200"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6pPr>
      <a:lvl7pPr marL="914400"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7pPr>
      <a:lvl8pPr marL="1371600"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8pPr>
      <a:lvl9pPr marL="1828800" algn="ctr" defTabSz="2193925" rtl="0" eaLnBrk="1" fontAlgn="base" hangingPunct="1">
        <a:spcBef>
          <a:spcPct val="0"/>
        </a:spcBef>
        <a:spcAft>
          <a:spcPct val="0"/>
        </a:spcAft>
        <a:defRPr sz="21100">
          <a:solidFill>
            <a:schemeClr val="tx1"/>
          </a:solidFill>
          <a:latin typeface="Arial" pitchFamily="-108" charset="0"/>
          <a:ea typeface="ＭＳ Ｐゴシック" pitchFamily="-108" charset="-128"/>
          <a:cs typeface="ＭＳ Ｐゴシック" pitchFamily="-108" charset="-128"/>
        </a:defRPr>
      </a:lvl9pPr>
    </p:titleStyle>
    <p:bodyStyle>
      <a:lvl1pPr marL="1644650" indent="-1644650" algn="l" defTabSz="2193925" rtl="0" eaLnBrk="1" fontAlgn="base" hangingPunct="1">
        <a:spcBef>
          <a:spcPct val="20000"/>
        </a:spcBef>
        <a:spcAft>
          <a:spcPct val="0"/>
        </a:spcAft>
        <a:buFont typeface="Arial" charset="0"/>
        <a:buChar char="•"/>
        <a:defRPr sz="15400" kern="1200">
          <a:solidFill>
            <a:schemeClr val="tx1"/>
          </a:solidFill>
          <a:latin typeface="+mn-lt"/>
          <a:ea typeface="ＭＳ Ｐゴシック" pitchFamily="-108" charset="-128"/>
          <a:cs typeface="ＭＳ Ｐゴシック" pitchFamily="-108" charset="-128"/>
        </a:defRPr>
      </a:lvl1pPr>
      <a:lvl2pPr marL="3565525" indent="-1371600" algn="l" defTabSz="2193925" rtl="0" eaLnBrk="1" fontAlgn="base" hangingPunct="1">
        <a:spcBef>
          <a:spcPct val="20000"/>
        </a:spcBef>
        <a:spcAft>
          <a:spcPct val="0"/>
        </a:spcAft>
        <a:buFont typeface="Arial" charset="0"/>
        <a:buChar char="–"/>
        <a:defRPr sz="13400" kern="1200">
          <a:solidFill>
            <a:schemeClr val="tx1"/>
          </a:solidFill>
          <a:latin typeface="+mn-lt"/>
          <a:ea typeface="ＭＳ Ｐゴシック" pitchFamily="-108" charset="-128"/>
          <a:cs typeface="+mn-cs"/>
        </a:defRPr>
      </a:lvl2pPr>
      <a:lvl3pPr marL="5486400" indent="-1096963" algn="l" defTabSz="2193925" rtl="0" eaLnBrk="1" fontAlgn="base" hangingPunct="1">
        <a:spcBef>
          <a:spcPct val="20000"/>
        </a:spcBef>
        <a:spcAft>
          <a:spcPct val="0"/>
        </a:spcAft>
        <a:buFont typeface="Arial" charset="0"/>
        <a:buChar char="•"/>
        <a:defRPr sz="11500" kern="1200">
          <a:solidFill>
            <a:schemeClr val="tx1"/>
          </a:solidFill>
          <a:latin typeface="+mn-lt"/>
          <a:ea typeface="ＭＳ Ｐゴシック" pitchFamily="-108" charset="-128"/>
          <a:cs typeface="+mn-cs"/>
        </a:defRPr>
      </a:lvl3pPr>
      <a:lvl4pPr marL="7680325" indent="-1096963" algn="l" defTabSz="2193925" rtl="0" eaLnBrk="1" fontAlgn="base" hangingPunct="1">
        <a:spcBef>
          <a:spcPct val="20000"/>
        </a:spcBef>
        <a:spcAft>
          <a:spcPct val="0"/>
        </a:spcAft>
        <a:buFont typeface="Arial" charset="0"/>
        <a:buChar char="–"/>
        <a:defRPr sz="9600" kern="1200">
          <a:solidFill>
            <a:schemeClr val="tx1"/>
          </a:solidFill>
          <a:latin typeface="+mn-lt"/>
          <a:ea typeface="ＭＳ Ｐゴシック" pitchFamily="-108" charset="-128"/>
          <a:cs typeface="+mn-cs"/>
        </a:defRPr>
      </a:lvl4pPr>
      <a:lvl5pPr marL="9874250" indent="-1096963" algn="l" defTabSz="2193925" rtl="0" eaLnBrk="1" fontAlgn="base" hangingPunct="1">
        <a:spcBef>
          <a:spcPct val="20000"/>
        </a:spcBef>
        <a:spcAft>
          <a:spcPct val="0"/>
        </a:spcAft>
        <a:buFont typeface="Arial" charset="0"/>
        <a:buChar char="»"/>
        <a:defRPr sz="9600" kern="1200">
          <a:solidFill>
            <a:schemeClr val="tx1"/>
          </a:solidFill>
          <a:latin typeface="+mn-lt"/>
          <a:ea typeface="ＭＳ Ｐゴシック" pitchFamily="-108" charset="-128"/>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emf"/><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0BDCEF4-5F44-4BCB-986F-08DC9D8E2416}"/>
              </a:ext>
            </a:extLst>
          </p:cNvPr>
          <p:cNvSpPr>
            <a:spLocks noGrp="1"/>
          </p:cNvSpPr>
          <p:nvPr>
            <p:ph type="title" idx="4294967295"/>
          </p:nvPr>
        </p:nvSpPr>
        <p:spPr>
          <a:xfrm>
            <a:off x="1066799" y="685800"/>
            <a:ext cx="33756601" cy="1477963"/>
          </a:xfrm>
          <a:prstGeom prst="rect">
            <a:avLst/>
          </a:prstGeom>
        </p:spPr>
        <p:txBody>
          <a:bodyPr/>
          <a:lstStyle/>
          <a:p>
            <a:pPr algn="l"/>
            <a:r>
              <a:rPr lang="en-US" sz="8000" dirty="0">
                <a:solidFill>
                  <a:srgbClr val="F76900"/>
                </a:solidFill>
                <a:latin typeface="Arial Black" panose="020B0A04020102020204" pitchFamily="34" charset="0"/>
                <a:ea typeface="ＭＳ Ｐゴシック" panose="020B0600070205080204" pitchFamily="34" charset="-128"/>
              </a:rPr>
              <a:t>How Does Weather Impact NFL Kicking Performance?</a:t>
            </a:r>
            <a:endParaRPr lang="en-US" sz="8000" dirty="0">
              <a:solidFill>
                <a:srgbClr val="F76900"/>
              </a:solidFill>
            </a:endParaRPr>
          </a:p>
        </p:txBody>
      </p:sp>
      <p:sp>
        <p:nvSpPr>
          <p:cNvPr id="14337" name="Presenter Name and Coll"/>
          <p:cNvSpPr>
            <a:spLocks noChangeArrowheads="1"/>
          </p:cNvSpPr>
          <p:nvPr/>
        </p:nvSpPr>
        <p:spPr bwMode="auto">
          <a:xfrm>
            <a:off x="1066799" y="1898020"/>
            <a:ext cx="41605200" cy="17233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243" tIns="45614" rIns="91243" bIns="45614">
            <a:spAutoFit/>
          </a:bodyPr>
          <a:lstStyle/>
          <a:p>
            <a:pPr>
              <a:spcBef>
                <a:spcPct val="50000"/>
              </a:spcBef>
            </a:pPr>
            <a:r>
              <a:rPr lang="en-US" sz="6600" b="1" dirty="0">
                <a:solidFill>
                  <a:srgbClr val="000E54"/>
                </a:solidFill>
                <a:latin typeface="Georgia" charset="0"/>
                <a:cs typeface="Georgia" charset="0"/>
              </a:rPr>
              <a:t>Jason Horne</a:t>
            </a:r>
            <a:br>
              <a:rPr lang="en-US" sz="6600" b="1" dirty="0">
                <a:solidFill>
                  <a:srgbClr val="000E54"/>
                </a:solidFill>
                <a:latin typeface="Georgia" charset="0"/>
                <a:cs typeface="Georgia" charset="0"/>
              </a:rPr>
            </a:br>
            <a:r>
              <a:rPr lang="en-US" sz="4000" b="1" dirty="0">
                <a:solidFill>
                  <a:srgbClr val="000E54"/>
                </a:solidFill>
                <a:latin typeface="Georgia" charset="0"/>
                <a:cs typeface="Georgia" charset="0"/>
              </a:rPr>
              <a:t>Department of Sport Analytics, Falk College of Sport and Human Dynamics, Syracuse University</a:t>
            </a:r>
          </a:p>
        </p:txBody>
      </p:sp>
      <p:sp>
        <p:nvSpPr>
          <p:cNvPr id="14341" name="Abstract"/>
          <p:cNvSpPr>
            <a:spLocks noChangeArrowheads="1"/>
          </p:cNvSpPr>
          <p:nvPr/>
        </p:nvSpPr>
        <p:spPr bwMode="auto">
          <a:xfrm>
            <a:off x="1143000" y="5181600"/>
            <a:ext cx="9829800" cy="144780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GB" sz="4000" b="1" u="sng" dirty="0">
                <a:solidFill>
                  <a:srgbClr val="F76900"/>
                </a:solidFill>
              </a:rPr>
              <a:t>ABSTRACT</a:t>
            </a:r>
          </a:p>
          <a:p>
            <a:r>
              <a:rPr lang="en-US" sz="2800" b="1" dirty="0"/>
              <a:t> </a:t>
            </a:r>
            <a:endParaRPr lang="en-US" sz="2800" dirty="0"/>
          </a:p>
          <a:p>
            <a:r>
              <a:rPr lang="en-US" sz="3800" dirty="0">
                <a:latin typeface="Georgia" charset="0"/>
                <a:cs typeface="Georgia" charset="0"/>
              </a:rPr>
              <a:t>In the world of American football, the role of kicking performance stands as a pivotal factor influencing game outcomes and team strategies. As the National Football League (NFL) continues to grow and play games worldwide, the difference in weather conditions seen in various game locations becomes important when evaluating kicker performance. Kicking is a critical component of American football, significantly influencing game outcomes through various scoring opportunities. The performance of kickers can be heavily affected by weather conditions, making it an essential factor to consider during game preparations and strategy developments. The objective of this project is to examine the impact of varying weather conditions on NFL kicking performance to inform data-driven decision-making.</a:t>
            </a:r>
          </a:p>
          <a:p>
            <a:endParaRPr lang="en-US" sz="2800" dirty="0">
              <a:latin typeface="Georgia" charset="0"/>
              <a:cs typeface="Georgia" charset="0"/>
            </a:endParaRPr>
          </a:p>
        </p:txBody>
      </p:sp>
      <p:sp>
        <p:nvSpPr>
          <p:cNvPr id="14340" name="Introduction"/>
          <p:cNvSpPr>
            <a:spLocks noChangeArrowheads="1"/>
          </p:cNvSpPr>
          <p:nvPr/>
        </p:nvSpPr>
        <p:spPr bwMode="auto">
          <a:xfrm>
            <a:off x="1143000" y="20116800"/>
            <a:ext cx="9829800" cy="118110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GB" sz="4000" b="1" u="sng" dirty="0">
                <a:solidFill>
                  <a:schemeClr val="tx2"/>
                </a:solidFill>
              </a:rPr>
              <a:t>INTRODUCTION</a:t>
            </a:r>
          </a:p>
          <a:p>
            <a:pPr>
              <a:spcBef>
                <a:spcPct val="50000"/>
              </a:spcBef>
            </a:pPr>
            <a:endParaRPr lang="en-US" sz="1000" dirty="0"/>
          </a:p>
          <a:p>
            <a:r>
              <a:rPr lang="en-US" sz="2700" dirty="0">
                <a:latin typeface="Georgia" charset="0"/>
                <a:cs typeface="Georgia" charset="0"/>
              </a:rPr>
              <a:t>This research project explores how various weather variables influence kicking performance. The international presence in the dataset is marked by the inclusion of open-air venues such as Tottenham Stadium and Wembley in the UK, and Estadio Azteca in Mexico. Weather factors researched by game include weather type, temperature, wind direction and speed. Data for this project includes 536 regular and postseason games from the 2019 and 2020 NFL seasons. The study’s data has been collected from ESPN and NFLWeather.com, with a sample size of 4,694 kicks. </a:t>
            </a:r>
          </a:p>
        </p:txBody>
      </p:sp>
      <p:sp>
        <p:nvSpPr>
          <p:cNvPr id="14342" name="Method"/>
          <p:cNvSpPr>
            <a:spLocks noChangeArrowheads="1"/>
          </p:cNvSpPr>
          <p:nvPr/>
        </p:nvSpPr>
        <p:spPr bwMode="auto">
          <a:xfrm>
            <a:off x="11734800" y="5181600"/>
            <a:ext cx="9829800" cy="267462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marL="381000" indent="-381000">
              <a:spcBef>
                <a:spcPct val="50000"/>
              </a:spcBef>
            </a:pPr>
            <a:r>
              <a:rPr lang="en-GB" sz="4000" b="1" u="sng" dirty="0">
                <a:solidFill>
                  <a:schemeClr val="tx2"/>
                </a:solidFill>
              </a:rPr>
              <a:t>METHOD</a:t>
            </a:r>
            <a:endParaRPr lang="en-GB" sz="4000" b="1" dirty="0">
              <a:solidFill>
                <a:srgbClr val="CC3300"/>
              </a:solidFill>
            </a:endParaRPr>
          </a:p>
          <a:p>
            <a:pPr marL="381000" indent="-381000"/>
            <a:endParaRPr lang="en-US" sz="2000" dirty="0">
              <a:latin typeface="Georgia" charset="0"/>
              <a:cs typeface="Georgia" charset="0"/>
            </a:endParaRPr>
          </a:p>
          <a:p>
            <a:r>
              <a:rPr lang="en-US" sz="2800" dirty="0">
                <a:latin typeface="Georgia" charset="0"/>
                <a:cs typeface="Georgia" charset="0"/>
                <a:sym typeface="Wingdings" panose="05000000000000000000" pitchFamily="2" charset="2"/>
              </a:rPr>
              <a:t>The first model built out in this study uses logistic regression to predict the outcome of a kick. This model incorporates variables such as kick type (FG or XP), yardage of kick, stadium location, kicker experience, week of the event, and weather conditions, each influencing the outcome prediction. Kicker experience was included into the model because it encompasses the kicker's skill level, consistency, and familiarity with different game scenarios, pressures and weather conditions. </a:t>
            </a:r>
          </a:p>
          <a:p>
            <a:r>
              <a:rPr lang="en-US" sz="2800" dirty="0">
                <a:latin typeface="Georgia" charset="0"/>
                <a:cs typeface="Georgia" charset="0"/>
                <a:sym typeface="Wingdings" panose="05000000000000000000" pitchFamily="2" charset="2"/>
              </a:rPr>
              <a:t>_______________________________________</a:t>
            </a:r>
          </a:p>
          <a:p>
            <a:r>
              <a:rPr lang="en-US" sz="2800" b="1" dirty="0">
                <a:latin typeface="Georgia" charset="0"/>
                <a:cs typeface="Georgia" charset="0"/>
                <a:sym typeface="Wingdings" panose="05000000000000000000" pitchFamily="2" charset="2"/>
              </a:rPr>
              <a:t>Stadium Weather Comparison</a:t>
            </a: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endParaRPr lang="en-US" sz="2800" dirty="0">
              <a:latin typeface="Georgia" charset="0"/>
              <a:cs typeface="Georgia" charset="0"/>
              <a:sym typeface="Wingdings" panose="05000000000000000000" pitchFamily="2" charset="2"/>
            </a:endParaRPr>
          </a:p>
          <a:p>
            <a:pPr>
              <a:spcBef>
                <a:spcPct val="50000"/>
              </a:spcBef>
            </a:pPr>
            <a:r>
              <a:rPr lang="en-US" sz="2800" dirty="0">
                <a:latin typeface="Georgia" charset="0"/>
                <a:sym typeface="Wingdings" panose="05000000000000000000" pitchFamily="2" charset="2"/>
              </a:rPr>
              <a:t>_______________________________________</a:t>
            </a:r>
          </a:p>
          <a:p>
            <a:pPr>
              <a:spcBef>
                <a:spcPct val="50000"/>
              </a:spcBef>
            </a:pPr>
            <a:r>
              <a:rPr lang="en-US" sz="2800" dirty="0">
                <a:latin typeface="Georgia" charset="0"/>
                <a:sym typeface="Wingdings" panose="05000000000000000000" pitchFamily="2" charset="2"/>
              </a:rPr>
              <a:t>A</a:t>
            </a:r>
            <a:r>
              <a:rPr lang="en-US" sz="2800" dirty="0">
                <a:latin typeface="Georgia" charset="0"/>
              </a:rPr>
              <a:t> second model using the same variables was built out using decision tree gradient boosting, which was chosen due to its ability to model nonlinear relationships that exist between the independent variables. </a:t>
            </a:r>
          </a:p>
          <a:p>
            <a:pPr>
              <a:spcBef>
                <a:spcPct val="50000"/>
              </a:spcBef>
            </a:pPr>
            <a:r>
              <a:rPr lang="en-US" sz="2800" dirty="0">
                <a:latin typeface="Georgia" charset="0"/>
              </a:rPr>
              <a:t>This model was built out using the </a:t>
            </a:r>
            <a:r>
              <a:rPr lang="en-US" sz="2800" dirty="0" err="1">
                <a:latin typeface="Georgia" charset="0"/>
              </a:rPr>
              <a:t>XGBoost</a:t>
            </a:r>
            <a:r>
              <a:rPr lang="en-US" sz="2800" dirty="0">
                <a:latin typeface="Georgia" charset="0"/>
              </a:rPr>
              <a:t> algorithm with 100 boosting rounds. During training, the model minimizes the logarithmic loss on the training data. As the training progresses, the log-loss value decreases, which indicates that the model is improving in terms of fitting the training data</a:t>
            </a:r>
            <a:r>
              <a:rPr lang="en-US" sz="2800">
                <a:latin typeface="Georgia" charset="0"/>
              </a:rPr>
              <a:t>. </a:t>
            </a:r>
            <a:endParaRPr lang="en-US" sz="2800" dirty="0">
              <a:latin typeface="Georgia" charset="0"/>
              <a:cs typeface="Georgia" charset="0"/>
            </a:endParaRPr>
          </a:p>
        </p:txBody>
      </p:sp>
      <p:sp>
        <p:nvSpPr>
          <p:cNvPr id="14343" name="Results"/>
          <p:cNvSpPr>
            <a:spLocks noChangeArrowheads="1"/>
          </p:cNvSpPr>
          <p:nvPr/>
        </p:nvSpPr>
        <p:spPr bwMode="auto">
          <a:xfrm>
            <a:off x="22326600" y="5181600"/>
            <a:ext cx="9829800" cy="267462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GB" sz="4000" b="1" u="sng" dirty="0">
                <a:solidFill>
                  <a:schemeClr val="tx2"/>
                </a:solidFill>
              </a:rPr>
              <a:t>RESULTS</a:t>
            </a:r>
            <a:endParaRPr lang="en-GB" sz="4000" b="1" dirty="0">
              <a:solidFill>
                <a:srgbClr val="CC3300"/>
              </a:solidFill>
            </a:endParaRPr>
          </a:p>
          <a:p>
            <a:pPr>
              <a:spcBef>
                <a:spcPct val="50000"/>
              </a:spcBef>
            </a:pPr>
            <a:r>
              <a:rPr lang="en-US" sz="2800" dirty="0">
                <a:latin typeface="Georgia" charset="0"/>
              </a:rPr>
              <a:t>Kick yardage was the most significant variable in the regression, highlighting the importance of distance above all other factors.</a:t>
            </a:r>
          </a:p>
          <a:p>
            <a:pPr>
              <a:spcBef>
                <a:spcPct val="50000"/>
              </a:spcBef>
            </a:pPr>
            <a:r>
              <a:rPr lang="en-US" sz="2800" dirty="0">
                <a:latin typeface="Georgia" charset="0"/>
              </a:rPr>
              <a:t>Stadiums such as Carolina, Chicago, Tennessee, Washington, and Seattle all show statistically significant negative effects on the outcome, indicating that kicks in these stadiums are less likely to be successful.</a:t>
            </a:r>
          </a:p>
          <a:p>
            <a:pPr>
              <a:spcBef>
                <a:spcPct val="50000"/>
              </a:spcBef>
            </a:pPr>
            <a:r>
              <a:rPr lang="en-US" sz="2800" dirty="0">
                <a:latin typeface="Georgia" charset="0"/>
              </a:rPr>
              <a:t>Among the weather conditions studied, only foggy weather shows a statistically significant negative effect on kick success, suggesting that fog may hinder kicking performance. However, further research involving more games played in foggy conditions is ideal, as the current sample size is small.</a:t>
            </a:r>
          </a:p>
          <a:p>
            <a:pPr>
              <a:spcBef>
                <a:spcPct val="50000"/>
              </a:spcBef>
            </a:pPr>
            <a:r>
              <a:rPr lang="en-US" sz="2800" dirty="0">
                <a:latin typeface="Georgia" charset="0"/>
              </a:rPr>
              <a:t>Following its training phase, the </a:t>
            </a:r>
            <a:r>
              <a:rPr lang="en-US" sz="2800" dirty="0" err="1">
                <a:latin typeface="Georgia" charset="0"/>
              </a:rPr>
              <a:t>XGBoost</a:t>
            </a:r>
            <a:r>
              <a:rPr lang="en-US" sz="2800" dirty="0">
                <a:latin typeface="Georgia" charset="0"/>
              </a:rPr>
              <a:t> model was assessed and demonstrated an estimated accuracy rate of about 89.3%, or 0.893. An accuracy of 89.3% suggests that the model performs very well in predicting the binary outcome (1 or 0) of a made kick based on the features of type of kick (XP/FG), kicker experience, yardage, and stadium. </a:t>
            </a:r>
          </a:p>
          <a:p>
            <a:pPr>
              <a:spcBef>
                <a:spcPct val="50000"/>
              </a:spcBef>
            </a:pPr>
            <a:endParaRPr lang="en-US" sz="4000" b="1" dirty="0">
              <a:solidFill>
                <a:srgbClr val="CC3300"/>
              </a:solidFill>
            </a:endParaRPr>
          </a:p>
        </p:txBody>
      </p:sp>
      <p:sp>
        <p:nvSpPr>
          <p:cNvPr id="14344" name="Conclusions"/>
          <p:cNvSpPr>
            <a:spLocks noChangeArrowheads="1"/>
          </p:cNvSpPr>
          <p:nvPr/>
        </p:nvSpPr>
        <p:spPr bwMode="auto">
          <a:xfrm>
            <a:off x="32918400" y="5181600"/>
            <a:ext cx="9829800" cy="12877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GB" sz="4000" b="1" u="sng" dirty="0">
                <a:solidFill>
                  <a:schemeClr val="tx2"/>
                </a:solidFill>
              </a:rPr>
              <a:t>CONCLUSIONS</a:t>
            </a:r>
            <a:endParaRPr lang="en-US" sz="2800" dirty="0">
              <a:latin typeface="Georgia" charset="0"/>
            </a:endParaRPr>
          </a:p>
          <a:p>
            <a:pPr>
              <a:spcBef>
                <a:spcPct val="50000"/>
              </a:spcBef>
            </a:pPr>
            <a:r>
              <a:rPr lang="en-US" sz="3500" dirty="0">
                <a:latin typeface="Georgia" charset="0"/>
              </a:rPr>
              <a:t>This research has highlighted the significant role that weather conditions and other variables play in the performance of kickers in the NFL. Logistic regression and </a:t>
            </a:r>
            <a:r>
              <a:rPr lang="en-US" sz="3500" dirty="0" err="1">
                <a:latin typeface="Georgia" charset="0"/>
              </a:rPr>
              <a:t>XGBoost</a:t>
            </a:r>
            <a:r>
              <a:rPr lang="en-US" sz="3500" dirty="0">
                <a:latin typeface="Georgia" charset="0"/>
              </a:rPr>
              <a:t> models were utilized to predict the outcomes of kicks, considering factors such as kick yardage, stadium location, kicker experience, and game week. It was found that kick yardage is a critical factor in kick success, while certain stadiums presented challenges due to weather impacts like wind. Specifically, foggy weather was identified as a significant detriment to kicker performance, although further study for additional sample size is ideal. Overall, the study contributes to the understanding of how environmental variables influence sports outcomes, offering valuable insights for strategic game preparation and data-driven decision-making in the National Football League.</a:t>
            </a:r>
            <a:endParaRPr lang="en-GB" sz="3500" dirty="0">
              <a:latin typeface="Georgia" charset="0"/>
            </a:endParaRPr>
          </a:p>
        </p:txBody>
      </p:sp>
      <p:sp>
        <p:nvSpPr>
          <p:cNvPr id="14346" name="References"/>
          <p:cNvSpPr>
            <a:spLocks noChangeArrowheads="1"/>
          </p:cNvSpPr>
          <p:nvPr/>
        </p:nvSpPr>
        <p:spPr bwMode="auto">
          <a:xfrm>
            <a:off x="32904113" y="18573750"/>
            <a:ext cx="9829800" cy="84772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GB" sz="4000" b="1" u="sng" dirty="0">
                <a:solidFill>
                  <a:schemeClr val="tx2"/>
                </a:solidFill>
              </a:rPr>
              <a:t>REFERENCES</a:t>
            </a:r>
          </a:p>
          <a:p>
            <a:endParaRPr lang="en-US" sz="2800" dirty="0"/>
          </a:p>
          <a:p>
            <a:r>
              <a:rPr lang="en-US" sz="2200" kern="100" dirty="0">
                <a:effectLst/>
                <a:latin typeface="Cambria" panose="02040503050406030204" pitchFamily="18" charset="0"/>
                <a:ea typeface="Aptos" panose="020B0004020202020204" pitchFamily="34" charset="0"/>
                <a:cs typeface="Times New Roman" panose="02020603050405020304" pitchFamily="18" charset="0"/>
              </a:rPr>
              <a:t>Bliss, T. (2021, September 27). </a:t>
            </a:r>
            <a:r>
              <a:rPr lang="en-US" sz="2200" i="1" kern="100" dirty="0">
                <a:effectLst/>
                <a:latin typeface="Cambria" panose="02040503050406030204" pitchFamily="18" charset="0"/>
                <a:ea typeface="Aptos" panose="020B0004020202020204" pitchFamily="34" charset="0"/>
                <a:cs typeface="Times New Roman" panose="02020603050405020304" pitchFamily="18" charset="0"/>
              </a:rPr>
              <a:t>Analyzing place kicker offset from center - R</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Kaggle. Retrieved April 16, 2023, from https://www.kaggle.com/code/tombliss/analyzing-place-kicker-offset-from-center-r  </a:t>
            </a: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200" kern="100" dirty="0">
              <a:effectLst/>
              <a:latin typeface="Cambria" panose="02040503050406030204" pitchFamily="18" charset="0"/>
              <a:ea typeface="Aptos" panose="020B0004020202020204" pitchFamily="34" charset="0"/>
              <a:cs typeface="Times New Roman" panose="02020603050405020304" pitchFamily="18" charset="0"/>
            </a:endParaRPr>
          </a:p>
          <a:p>
            <a:r>
              <a:rPr lang="en-US" sz="2200" kern="100" dirty="0">
                <a:effectLst/>
                <a:latin typeface="Cambria" panose="02040503050406030204" pitchFamily="18" charset="0"/>
                <a:ea typeface="Aptos" panose="020B0004020202020204" pitchFamily="34" charset="0"/>
                <a:cs typeface="Times New Roman" panose="02020603050405020304" pitchFamily="18" charset="0"/>
              </a:rPr>
              <a:t>Cheema, A. (2020, January 25). </a:t>
            </a:r>
            <a:r>
              <a:rPr lang="en-US" sz="2200" i="1" kern="100" dirty="0">
                <a:effectLst/>
                <a:latin typeface="Cambria" panose="02040503050406030204" pitchFamily="18" charset="0"/>
                <a:ea typeface="Aptos" panose="020B0004020202020204" pitchFamily="34" charset="0"/>
                <a:cs typeface="Times New Roman" panose="02020603050405020304" pitchFamily="18" charset="0"/>
              </a:rPr>
              <a:t>Analyzing the effect of weather in the NFL</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The </a:t>
            </a:r>
            <a:r>
              <a:rPr lang="en-US" sz="2200" kern="100" dirty="0" err="1">
                <a:effectLst/>
                <a:latin typeface="Cambria" panose="02040503050406030204" pitchFamily="18" charset="0"/>
                <a:ea typeface="Aptos" panose="020B0004020202020204" pitchFamily="34" charset="0"/>
                <a:cs typeface="Times New Roman" panose="02020603050405020304" pitchFamily="18" charset="0"/>
              </a:rPr>
              <a:t>Spax</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Retrieved April 15, 2023, from https://www.thespax.com/nfl/analyzing-the-effect-of-weather-in-the-nfl/ </a:t>
            </a:r>
          </a:p>
          <a:p>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2200" kern="100" dirty="0">
                <a:effectLst/>
                <a:latin typeface="Cambria" panose="02040503050406030204" pitchFamily="18" charset="0"/>
                <a:ea typeface="Aptos" panose="020B0004020202020204" pitchFamily="34" charset="0"/>
                <a:cs typeface="Times New Roman" panose="02020603050405020304" pitchFamily="18" charset="0"/>
              </a:rPr>
              <a:t>Gabriel, A. (2021, November 18). </a:t>
            </a:r>
            <a:r>
              <a:rPr lang="en-US" sz="2200" i="1" kern="100" dirty="0">
                <a:effectLst/>
                <a:latin typeface="Cambria" panose="02040503050406030204" pitchFamily="18" charset="0"/>
                <a:ea typeface="Aptos" panose="020B0004020202020204" pitchFamily="34" charset="0"/>
                <a:cs typeface="Times New Roman" panose="02020603050405020304" pitchFamily="18" charset="0"/>
              </a:rPr>
              <a:t>How the weather can impact football games</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Fox Weather. Retrieved April 13, 2023, from https://www.foxweather.com/lifestyle/how-weather-can-impact-nfl-games-football  </a:t>
            </a: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200" dirty="0"/>
          </a:p>
          <a:p>
            <a:r>
              <a:rPr lang="en-US" sz="2200" kern="100" dirty="0" err="1">
                <a:effectLst/>
                <a:latin typeface="Cambria" panose="02040503050406030204" pitchFamily="18" charset="0"/>
                <a:ea typeface="Aptos" panose="020B0004020202020204" pitchFamily="34" charset="0"/>
                <a:cs typeface="Times New Roman" panose="02020603050405020304" pitchFamily="18" charset="0"/>
              </a:rPr>
              <a:t>Wizniewski</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B. (2022, October 17). </a:t>
            </a:r>
            <a:r>
              <a:rPr lang="en-US" sz="2200" i="1" kern="100" dirty="0">
                <a:effectLst/>
                <a:latin typeface="Cambria" panose="02040503050406030204" pitchFamily="18" charset="0"/>
                <a:ea typeface="Aptos" panose="020B0004020202020204" pitchFamily="34" charset="0"/>
                <a:cs typeface="Times New Roman" panose="02020603050405020304" pitchFamily="18" charset="0"/>
              </a:rPr>
              <a:t>Football Analysis</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a:t>
            </a:r>
            <a:r>
              <a:rPr lang="en-US" sz="2200" kern="100" dirty="0" err="1">
                <a:effectLst/>
                <a:latin typeface="Cambria" panose="02040503050406030204" pitchFamily="18" charset="0"/>
                <a:ea typeface="Aptos" panose="020B0004020202020204" pitchFamily="34" charset="0"/>
                <a:cs typeface="Times New Roman" panose="02020603050405020304" pitchFamily="18" charset="0"/>
              </a:rPr>
              <a:t>RPubs</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Retrieved April 16, 2023, from https://rpubs.com/brendanWiz/FGkickindoorout </a:t>
            </a:r>
          </a:p>
          <a:p>
            <a:endParaRPr lang="en-US" sz="2200" kern="100" dirty="0">
              <a:latin typeface="Cambria" panose="02040503050406030204" pitchFamily="18" charset="0"/>
              <a:ea typeface="Aptos" panose="020B0004020202020204" pitchFamily="34" charset="0"/>
              <a:cs typeface="Times New Roman" panose="02020603050405020304" pitchFamily="18" charset="0"/>
            </a:endParaRPr>
          </a:p>
          <a:p>
            <a:r>
              <a:rPr lang="en-US" sz="2200" kern="100" dirty="0" err="1">
                <a:effectLst/>
                <a:latin typeface="Cambria" panose="02040503050406030204" pitchFamily="18" charset="0"/>
                <a:ea typeface="Aptos" panose="020B0004020202020204" pitchFamily="34" charset="0"/>
                <a:cs typeface="Times New Roman" panose="02020603050405020304" pitchFamily="18" charset="0"/>
              </a:rPr>
              <a:t>Wronka</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S. (2022, September 2)</a:t>
            </a:r>
            <a:r>
              <a:rPr lang="en-US" sz="2200" i="1" kern="100" dirty="0">
                <a:effectLst/>
                <a:latin typeface="Cambria" panose="02040503050406030204" pitchFamily="18" charset="0"/>
                <a:ea typeface="Aptos" panose="020B0004020202020204" pitchFamily="34" charset="0"/>
                <a:cs typeface="Times New Roman" panose="02020603050405020304" pitchFamily="18" charset="0"/>
              </a:rPr>
              <a:t> NFL betting and weather - how weather affects NFL scoring</a:t>
            </a:r>
            <a:r>
              <a:rPr lang="en-US" sz="2200" kern="100" dirty="0">
                <a:effectLst/>
                <a:latin typeface="Cambria" panose="02040503050406030204" pitchFamily="18" charset="0"/>
                <a:ea typeface="Aptos" panose="020B0004020202020204" pitchFamily="34" charset="0"/>
                <a:cs typeface="Times New Roman" panose="02020603050405020304" pitchFamily="18" charset="0"/>
              </a:rPr>
              <a:t>. Covers.com. Retrieved April 15, 2023, from https://www.covers.com/nfl/how-weather-affects-betting  </a:t>
            </a: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7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800" dirty="0"/>
          </a:p>
        </p:txBody>
      </p:sp>
      <p:sp>
        <p:nvSpPr>
          <p:cNvPr id="14339" name="Acknowledgements"/>
          <p:cNvSpPr>
            <a:spLocks noChangeArrowheads="1"/>
          </p:cNvSpPr>
          <p:nvPr/>
        </p:nvSpPr>
        <p:spPr bwMode="auto">
          <a:xfrm>
            <a:off x="32918400" y="27680476"/>
            <a:ext cx="9829800" cy="41910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GB" sz="4000" b="1" u="sng" dirty="0">
                <a:solidFill>
                  <a:schemeClr val="tx2"/>
                </a:solidFill>
              </a:rPr>
              <a:t>ACKNOWLEDGEMENTS</a:t>
            </a:r>
            <a:endParaRPr lang="en-GB" sz="4000" b="1" dirty="0">
              <a:solidFill>
                <a:srgbClr val="CC3300"/>
              </a:solidFill>
            </a:endParaRPr>
          </a:p>
          <a:p>
            <a:endParaRPr lang="en-US" sz="2000" dirty="0"/>
          </a:p>
          <a:p>
            <a:r>
              <a:rPr lang="en-US" sz="3600" dirty="0">
                <a:latin typeface="Georgia" charset="0"/>
                <a:cs typeface="Georgia" charset="0"/>
              </a:rPr>
              <a:t>Thank you to Dr. Rodney Paul and the professors in the Sport Analytics department for all their guidance and support throughout the process of writing my thesis.</a:t>
            </a:r>
          </a:p>
        </p:txBody>
      </p:sp>
      <p:pic>
        <p:nvPicPr>
          <p:cNvPr id="16" name="Falk Logo" descr="Text&#10;&#10;Description automatically generated">
            <a:extLst>
              <a:ext uri="{FF2B5EF4-FFF2-40B4-BE49-F238E27FC236}">
                <a16:creationId xmlns:a16="http://schemas.microsoft.com/office/drawing/2014/main" id="{FE2A9173-5A5F-48DC-A655-27ECE80BD35C}"/>
              </a:ext>
            </a:extLst>
          </p:cNvPr>
          <p:cNvPicPr>
            <a:picLocks noChangeAspect="1"/>
          </p:cNvPicPr>
          <p:nvPr/>
        </p:nvPicPr>
        <p:blipFill>
          <a:blip r:embed="rId3"/>
          <a:stretch>
            <a:fillRect/>
          </a:stretch>
        </p:blipFill>
        <p:spPr>
          <a:xfrm>
            <a:off x="32156400" y="706171"/>
            <a:ext cx="9898572" cy="2915184"/>
          </a:xfrm>
          <a:prstGeom prst="rect">
            <a:avLst/>
          </a:prstGeom>
        </p:spPr>
      </p:pic>
      <p:pic>
        <p:nvPicPr>
          <p:cNvPr id="4" name="Picture 3" descr="A logo of a football team&#10;&#10;Description automatically generated">
            <a:extLst>
              <a:ext uri="{FF2B5EF4-FFF2-40B4-BE49-F238E27FC236}">
                <a16:creationId xmlns:a16="http://schemas.microsoft.com/office/drawing/2014/main" id="{045CE503-BC08-8BF2-464E-66B51C2079A4}"/>
              </a:ext>
            </a:extLst>
          </p:cNvPr>
          <p:cNvPicPr>
            <a:picLocks noChangeAspect="1"/>
          </p:cNvPicPr>
          <p:nvPr/>
        </p:nvPicPr>
        <p:blipFill>
          <a:blip r:embed="rId4"/>
          <a:stretch>
            <a:fillRect/>
          </a:stretch>
        </p:blipFill>
        <p:spPr>
          <a:xfrm>
            <a:off x="41915952" y="1655931"/>
            <a:ext cx="1512094" cy="2077869"/>
          </a:xfrm>
          <a:prstGeom prst="rect">
            <a:avLst/>
          </a:prstGeom>
        </p:spPr>
      </p:pic>
      <p:pic>
        <p:nvPicPr>
          <p:cNvPr id="6" name="Picture 5">
            <a:extLst>
              <a:ext uri="{FF2B5EF4-FFF2-40B4-BE49-F238E27FC236}">
                <a16:creationId xmlns:a16="http://schemas.microsoft.com/office/drawing/2014/main" id="{2114DC2C-11B1-C3F8-4515-F334CE284B9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395656" y="20533187"/>
            <a:ext cx="10523281" cy="11679042"/>
          </a:xfrm>
          <a:prstGeom prst="rect">
            <a:avLst/>
          </a:prstGeom>
          <a:noFill/>
          <a:ln>
            <a:noFill/>
          </a:ln>
        </p:spPr>
      </p:pic>
      <p:pic>
        <p:nvPicPr>
          <p:cNvPr id="7" name="Picture 6" descr="A screenshot of a computer screen&#10;&#10;Description automatically generated">
            <a:extLst>
              <a:ext uri="{FF2B5EF4-FFF2-40B4-BE49-F238E27FC236}">
                <a16:creationId xmlns:a16="http://schemas.microsoft.com/office/drawing/2014/main" id="{2373E3F6-16C2-BB59-2129-EE7890209FEC}"/>
              </a:ext>
            </a:extLst>
          </p:cNvPr>
          <p:cNvPicPr>
            <a:picLocks noChangeAspect="1"/>
          </p:cNvPicPr>
          <p:nvPr/>
        </p:nvPicPr>
        <p:blipFill>
          <a:blip r:embed="rId6"/>
          <a:stretch>
            <a:fillRect/>
          </a:stretch>
        </p:blipFill>
        <p:spPr>
          <a:xfrm>
            <a:off x="1413272" y="25831800"/>
            <a:ext cx="9258300" cy="5682282"/>
          </a:xfrm>
          <a:prstGeom prst="rect">
            <a:avLst/>
          </a:prstGeom>
        </p:spPr>
      </p:pic>
      <p:pic>
        <p:nvPicPr>
          <p:cNvPr id="8" name="Picture 7" descr="A graph of different colored squares&#10;&#10;Description automatically generated">
            <a:extLst>
              <a:ext uri="{FF2B5EF4-FFF2-40B4-BE49-F238E27FC236}">
                <a16:creationId xmlns:a16="http://schemas.microsoft.com/office/drawing/2014/main" id="{A85AD238-3940-BC30-72DE-FAC399931A0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706350" y="23555525"/>
            <a:ext cx="8229600" cy="3968115"/>
          </a:xfrm>
          <a:prstGeom prst="rect">
            <a:avLst/>
          </a:prstGeom>
          <a:noFill/>
        </p:spPr>
      </p:pic>
      <p:pic>
        <p:nvPicPr>
          <p:cNvPr id="9" name="Picture 8" descr="A table with different colored bars&#10;&#10;Description automatically generated with medium confidence">
            <a:extLst>
              <a:ext uri="{FF2B5EF4-FFF2-40B4-BE49-F238E27FC236}">
                <a16:creationId xmlns:a16="http://schemas.microsoft.com/office/drawing/2014/main" id="{080900A5-6E6D-808C-7437-419754BB437B}"/>
              </a:ext>
            </a:extLst>
          </p:cNvPr>
          <p:cNvPicPr>
            <a:picLocks noChangeAspect="1"/>
          </p:cNvPicPr>
          <p:nvPr/>
        </p:nvPicPr>
        <p:blipFill>
          <a:blip r:embed="rId8"/>
          <a:stretch>
            <a:fillRect/>
          </a:stretch>
        </p:blipFill>
        <p:spPr>
          <a:xfrm>
            <a:off x="11948300" y="11423502"/>
            <a:ext cx="4457167" cy="3394131"/>
          </a:xfrm>
          <a:prstGeom prst="rect">
            <a:avLst/>
          </a:prstGeom>
        </p:spPr>
      </p:pic>
      <p:pic>
        <p:nvPicPr>
          <p:cNvPr id="10" name="Picture 9" descr="A chart with different colored numbers&#10;&#10;Description automatically generated with medium confidence">
            <a:extLst>
              <a:ext uri="{FF2B5EF4-FFF2-40B4-BE49-F238E27FC236}">
                <a16:creationId xmlns:a16="http://schemas.microsoft.com/office/drawing/2014/main" id="{FD4BAD39-D7BF-A76F-AC39-46098FF24E16}"/>
              </a:ext>
            </a:extLst>
          </p:cNvPr>
          <p:cNvPicPr>
            <a:picLocks noChangeAspect="1"/>
          </p:cNvPicPr>
          <p:nvPr/>
        </p:nvPicPr>
        <p:blipFill>
          <a:blip r:embed="rId9"/>
          <a:stretch>
            <a:fillRect/>
          </a:stretch>
        </p:blipFill>
        <p:spPr>
          <a:xfrm>
            <a:off x="16618967" y="11613520"/>
            <a:ext cx="4670190" cy="3014094"/>
          </a:xfrm>
          <a:prstGeom prst="rect">
            <a:avLst/>
          </a:prstGeom>
        </p:spPr>
      </p:pic>
      <p:pic>
        <p:nvPicPr>
          <p:cNvPr id="11" name="Picture 10" descr="A chart with different colored bars&#10;&#10;Description automatically generated with medium confidence">
            <a:extLst>
              <a:ext uri="{FF2B5EF4-FFF2-40B4-BE49-F238E27FC236}">
                <a16:creationId xmlns:a16="http://schemas.microsoft.com/office/drawing/2014/main" id="{126CD6A5-996C-55E5-B778-A65B8B6C7D38}"/>
              </a:ext>
            </a:extLst>
          </p:cNvPr>
          <p:cNvPicPr>
            <a:picLocks noChangeAspect="1"/>
          </p:cNvPicPr>
          <p:nvPr/>
        </p:nvPicPr>
        <p:blipFill>
          <a:blip r:embed="rId10"/>
          <a:stretch>
            <a:fillRect/>
          </a:stretch>
        </p:blipFill>
        <p:spPr>
          <a:xfrm>
            <a:off x="16604258" y="15163801"/>
            <a:ext cx="4672584" cy="3006171"/>
          </a:xfrm>
          <a:prstGeom prst="rect">
            <a:avLst/>
          </a:prstGeom>
        </p:spPr>
      </p:pic>
      <p:pic>
        <p:nvPicPr>
          <p:cNvPr id="12" name="Picture 11" descr="A table with a list of stadium names&#10;&#10;Description automatically generated">
            <a:extLst>
              <a:ext uri="{FF2B5EF4-FFF2-40B4-BE49-F238E27FC236}">
                <a16:creationId xmlns:a16="http://schemas.microsoft.com/office/drawing/2014/main" id="{607DC45A-7B4B-08DE-BC65-F6440FE28743}"/>
              </a:ext>
            </a:extLst>
          </p:cNvPr>
          <p:cNvPicPr>
            <a:picLocks noChangeAspect="1"/>
          </p:cNvPicPr>
          <p:nvPr/>
        </p:nvPicPr>
        <p:blipFill>
          <a:blip r:embed="rId11"/>
          <a:stretch>
            <a:fillRect/>
          </a:stretch>
        </p:blipFill>
        <p:spPr>
          <a:xfrm>
            <a:off x="11948299" y="14968537"/>
            <a:ext cx="4453128" cy="3377321"/>
          </a:xfrm>
          <a:prstGeom prst="rect">
            <a:avLst/>
          </a:prstGeom>
        </p:spPr>
      </p:pic>
      <p:pic>
        <p:nvPicPr>
          <p:cNvPr id="13" name="Picture 12" descr="A graph of different colored squares&#10;&#10;Description automatically generated">
            <a:extLst>
              <a:ext uri="{FF2B5EF4-FFF2-40B4-BE49-F238E27FC236}">
                <a16:creationId xmlns:a16="http://schemas.microsoft.com/office/drawing/2014/main" id="{404697B7-DF7A-A2CF-9720-03A669F62E1A}"/>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2706350" y="27699526"/>
            <a:ext cx="8229600" cy="3966956"/>
          </a:xfrm>
          <a:prstGeom prst="rect">
            <a:avLst/>
          </a:prstGeom>
          <a:noFill/>
        </p:spPr>
      </p:pic>
      <p:pic>
        <p:nvPicPr>
          <p:cNvPr id="14" name="Picture 13" descr="A graph of a logistic regression model&#10;&#10;Description automatically generated">
            <a:extLst>
              <a:ext uri="{FF2B5EF4-FFF2-40B4-BE49-F238E27FC236}">
                <a16:creationId xmlns:a16="http://schemas.microsoft.com/office/drawing/2014/main" id="{226F1612-098D-C07B-C117-CBB91BE120B1}"/>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3622000" y="15555851"/>
            <a:ext cx="6714233" cy="5580013"/>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Custom 5">
      <a:dk1>
        <a:srgbClr val="000E54"/>
      </a:dk1>
      <a:lt1>
        <a:srgbClr val="FFFFFF"/>
      </a:lt1>
      <a:dk2>
        <a:srgbClr val="F76900"/>
      </a:dk2>
      <a:lt2>
        <a:srgbClr val="FAFAFA"/>
      </a:lt2>
      <a:accent1>
        <a:srgbClr val="000E54"/>
      </a:accent1>
      <a:accent2>
        <a:srgbClr val="F76900"/>
      </a:accent2>
      <a:accent3>
        <a:srgbClr val="191919"/>
      </a:accent3>
      <a:accent4>
        <a:srgbClr val="191919"/>
      </a:accent4>
      <a:accent5>
        <a:srgbClr val="000E54"/>
      </a:accent5>
      <a:accent6>
        <a:srgbClr val="F76900"/>
      </a:accent6>
      <a:hlink>
        <a:srgbClr val="191919"/>
      </a:hlink>
      <a:folHlink>
        <a:srgbClr val="1919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410CA1B-542D-3244-B814-5E899E0E5892}" vid="{0D1DA440-3E1F-1243-A175-747014F56C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Research_poster_template</Template>
  <TotalTime>957</TotalTime>
  <Words>979</Words>
  <Application>Microsoft Office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Arial Black</vt:lpstr>
      <vt:lpstr>Calibri</vt:lpstr>
      <vt:lpstr>Cambria</vt:lpstr>
      <vt:lpstr>Georgia</vt:lpstr>
      <vt:lpstr>Office Theme</vt:lpstr>
      <vt:lpstr>How Does Weather Impact NFL Kicking Performance?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Jessica Garay Redmond</dc:creator>
  <cp:keywords/>
  <dc:description/>
  <cp:lastModifiedBy>Jason Horne</cp:lastModifiedBy>
  <cp:revision>25</cp:revision>
  <cp:lastPrinted>2019-12-10T17:22:37Z</cp:lastPrinted>
  <dcterms:created xsi:type="dcterms:W3CDTF">2019-12-10T17:02:27Z</dcterms:created>
  <dcterms:modified xsi:type="dcterms:W3CDTF">2024-04-29T01:57:37Z</dcterms:modified>
  <cp:category/>
</cp:coreProperties>
</file>